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Arimo Bold" panose="020B0604020202020204" charset="0"/>
      <p:regular r:id="rId16"/>
    </p:embeddedFont>
    <p:embeddedFont>
      <p:font typeface="Glegoo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7C46F-6AF8-4AE1-89BD-C9BC77273E32}" v="12" dt="2026-07-06T12:03:14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elope.genius@gmail.com" userId="31fe13fe32d50bde" providerId="Windows Live" clId="Web-{B967C46F-6AF8-4AE1-89BD-C9BC77273E32}"/>
    <pc:docChg chg="modSld">
      <pc:chgData name="develope.genius@gmail.com" userId="31fe13fe32d50bde" providerId="Windows Live" clId="Web-{B967C46F-6AF8-4AE1-89BD-C9BC77273E32}" dt="2026-07-06T12:03:14.744" v="11" actId="14100"/>
      <pc:docMkLst>
        <pc:docMk/>
      </pc:docMkLst>
      <pc:sldChg chg="addSp delSp modSp">
        <pc:chgData name="develope.genius@gmail.com" userId="31fe13fe32d50bde" providerId="Windows Live" clId="Web-{B967C46F-6AF8-4AE1-89BD-C9BC77273E32}" dt="2026-07-06T12:03:14.744" v="11" actId="14100"/>
        <pc:sldMkLst>
          <pc:docMk/>
          <pc:sldMk cId="0" sldId="262"/>
        </pc:sldMkLst>
        <pc:grpChg chg="del mod">
          <ac:chgData name="develope.genius@gmail.com" userId="31fe13fe32d50bde" providerId="Windows Live" clId="Web-{B967C46F-6AF8-4AE1-89BD-C9BC77273E32}" dt="2026-07-06T12:01:41.007" v="3"/>
          <ac:grpSpMkLst>
            <pc:docMk/>
            <pc:sldMk cId="0" sldId="262"/>
            <ac:grpSpMk id="6" creationId="{00000000-0000-0000-0000-000000000000}"/>
          </ac:grpSpMkLst>
        </pc:grpChg>
        <pc:picChg chg="add mod">
          <ac:chgData name="develope.genius@gmail.com" userId="31fe13fe32d50bde" providerId="Windows Live" clId="Web-{B967C46F-6AF8-4AE1-89BD-C9BC77273E32}" dt="2026-07-06T12:03:14.744" v="11" actId="14100"/>
          <ac:picMkLst>
            <pc:docMk/>
            <pc:sldMk cId="0" sldId="262"/>
            <ac:picMk id="8" creationId="{3BFFD039-35D3-27CD-B425-62CC1C3C54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uS-0XcD7V8?feature=oembed" TargetMode="Externa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0716" y="-10716"/>
            <a:ext cx="18309431" cy="10308431"/>
            <a:chOff x="0" y="0"/>
            <a:chExt cx="24412575" cy="13744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12575" cy="13744575"/>
            </a:xfrm>
            <a:custGeom>
              <a:avLst/>
              <a:gdLst/>
              <a:ahLst/>
              <a:cxnLst/>
              <a:rect l="l" t="t" r="r" b="b"/>
              <a:pathLst>
                <a:path w="24412575" h="13744575">
                  <a:moveTo>
                    <a:pt x="0" y="0"/>
                  </a:moveTo>
                  <a:lnTo>
                    <a:pt x="24412575" y="0"/>
                  </a:lnTo>
                  <a:lnTo>
                    <a:pt x="24412575" y="13744575"/>
                  </a:lnTo>
                  <a:lnTo>
                    <a:pt x="0" y="13744575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" r="-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428" r="-21428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7825235" y="4923082"/>
            <a:ext cx="4630960" cy="2041874"/>
          </a:xfrm>
          <a:custGeom>
            <a:avLst/>
            <a:gdLst/>
            <a:ahLst/>
            <a:cxnLst/>
            <a:rect l="l" t="t" r="r" b="b"/>
            <a:pathLst>
              <a:path w="4630960" h="2041874">
                <a:moveTo>
                  <a:pt x="0" y="0"/>
                </a:moveTo>
                <a:lnTo>
                  <a:pt x="4630960" y="0"/>
                </a:lnTo>
                <a:lnTo>
                  <a:pt x="4630960" y="2041874"/>
                </a:lnTo>
                <a:lnTo>
                  <a:pt x="0" y="2041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689681" y="4923082"/>
            <a:ext cx="4631055" cy="2041874"/>
          </a:xfrm>
          <a:custGeom>
            <a:avLst/>
            <a:gdLst/>
            <a:ahLst/>
            <a:cxnLst/>
            <a:rect l="l" t="t" r="r" b="b"/>
            <a:pathLst>
              <a:path w="4631055" h="2041874">
                <a:moveTo>
                  <a:pt x="0" y="0"/>
                </a:moveTo>
                <a:lnTo>
                  <a:pt x="4631055" y="0"/>
                </a:lnTo>
                <a:lnTo>
                  <a:pt x="4631055" y="2041874"/>
                </a:lnTo>
                <a:lnTo>
                  <a:pt x="0" y="2041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825235" y="7198519"/>
            <a:ext cx="9495472" cy="1673447"/>
          </a:xfrm>
          <a:custGeom>
            <a:avLst/>
            <a:gdLst/>
            <a:ahLst/>
            <a:cxnLst/>
            <a:rect l="l" t="t" r="r" b="b"/>
            <a:pathLst>
              <a:path w="9495472" h="1673447">
                <a:moveTo>
                  <a:pt x="0" y="0"/>
                </a:moveTo>
                <a:lnTo>
                  <a:pt x="9495473" y="0"/>
                </a:lnTo>
                <a:lnTo>
                  <a:pt x="9495473" y="1673447"/>
                </a:lnTo>
                <a:lnTo>
                  <a:pt x="0" y="1673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850238" y="1268606"/>
            <a:ext cx="8002638" cy="109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50238" y="2710463"/>
            <a:ext cx="9445523" cy="1859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KinaHub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is a modern, local-first e-commerce and CRM platform designed to empower local sellers and neighborhoods in Nepal. It bridges the gap between physical stores and the digital shopping space — featuring a dynamic storefront, multi-seller cart, and an AI shopping assistant called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Kina AI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62334" y="5183981"/>
            <a:ext cx="35440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Dynamic Storefront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62334" y="5814717"/>
            <a:ext cx="3956742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Responsive React + Tailwind CSS UI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26781" y="5183981"/>
            <a:ext cx="35440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Multi-Seller Cart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26781" y="5814717"/>
            <a:ext cx="3956895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Optimized for local delivery fees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62334" y="7459418"/>
            <a:ext cx="35440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Kina AI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62334" y="8090144"/>
            <a:ext cx="8821341" cy="44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Real-time localized shopping advice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95866" y="9146981"/>
            <a:ext cx="9409062" cy="64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739" spc="373">
                <a:solidFill>
                  <a:srgbClr val="FFFFFF"/>
                </a:solidFill>
                <a:latin typeface="Glegoo"/>
                <a:ea typeface="Glegoo"/>
                <a:cs typeface="Glegoo"/>
                <a:sym typeface="Glegoo"/>
              </a:rPr>
              <a:t>Demo: Kinahub.vercel.app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279752"/>
            <a:ext cx="8002638" cy="109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63426"/>
            <a:ext cx="17217923" cy="44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local retail market in Nepal faces critical digital barriers that KinaHub is designed to solve.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4138" y="4627064"/>
            <a:ext cx="5283546" cy="3208582"/>
            <a:chOff x="0" y="0"/>
            <a:chExt cx="7044728" cy="427810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044690" cy="4278122"/>
            </a:xfrm>
            <a:custGeom>
              <a:avLst/>
              <a:gdLst/>
              <a:ahLst/>
              <a:cxnLst/>
              <a:rect l="l" t="t" r="r" b="b"/>
              <a:pathLst>
                <a:path w="7044690" h="4278122">
                  <a:moveTo>
                    <a:pt x="0" y="0"/>
                  </a:moveTo>
                  <a:lnTo>
                    <a:pt x="7044690" y="0"/>
                  </a:lnTo>
                  <a:lnTo>
                    <a:pt x="7044690" y="4278122"/>
                  </a:lnTo>
                  <a:lnTo>
                    <a:pt x="0" y="4278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428150" y="4872485"/>
            <a:ext cx="35440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🏪</a:t>
            </a: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Visibility Gap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8150" y="5503221"/>
            <a:ext cx="4487913" cy="15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Small local stores lack technical resources to build online storefronts, making them invisible to digital-first customers.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83106" y="4627064"/>
            <a:ext cx="5283546" cy="3208582"/>
            <a:chOff x="0" y="0"/>
            <a:chExt cx="7044728" cy="4278109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044690" cy="4278122"/>
            </a:xfrm>
            <a:custGeom>
              <a:avLst/>
              <a:gdLst/>
              <a:ahLst/>
              <a:cxnLst/>
              <a:rect l="l" t="t" r="r" b="b"/>
              <a:pathLst>
                <a:path w="7044690" h="4278122">
                  <a:moveTo>
                    <a:pt x="0" y="0"/>
                  </a:moveTo>
                  <a:lnTo>
                    <a:pt x="7044690" y="0"/>
                  </a:lnTo>
                  <a:lnTo>
                    <a:pt x="7044690" y="4278122"/>
                  </a:lnTo>
                  <a:lnTo>
                    <a:pt x="0" y="4278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6957117" y="4872485"/>
            <a:ext cx="4275534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📦</a:t>
            </a: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Logistical Complexity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57117" y="5503221"/>
            <a:ext cx="4487913" cy="15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Customers ordering from multiple nearby stores face high, disjointed delivery fees — platforms don't optimize for local seller proximity.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12063" y="4627064"/>
            <a:ext cx="5283546" cy="3208582"/>
            <a:chOff x="0" y="0"/>
            <a:chExt cx="7044728" cy="4278109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044690" cy="4278122"/>
            </a:xfrm>
            <a:custGeom>
              <a:avLst/>
              <a:gdLst/>
              <a:ahLst/>
              <a:cxnLst/>
              <a:rect l="l" t="t" r="r" b="b"/>
              <a:pathLst>
                <a:path w="7044690" h="4278122">
                  <a:moveTo>
                    <a:pt x="0" y="0"/>
                  </a:moveTo>
                  <a:lnTo>
                    <a:pt x="7044690" y="0"/>
                  </a:lnTo>
                  <a:lnTo>
                    <a:pt x="7044690" y="4278122"/>
                  </a:lnTo>
                  <a:lnTo>
                    <a:pt x="0" y="4278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486084" y="4872485"/>
            <a:ext cx="4487913" cy="997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🤖</a:t>
            </a: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Lack of Personalized Guidance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86084" y="5963841"/>
            <a:ext cx="4487913" cy="15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Traditional e-commerce offers generic recommendations. Local shoppers need specific advice on value and localized convenience.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340196"/>
            <a:ext cx="10406358" cy="109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Objectives &amp;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065564"/>
            <a:ext cx="44584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809705"/>
            <a:ext cx="7805890" cy="295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Build a responsive frontend with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React + Tailwind CSS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Implement a secure backend via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Django REST Framework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Integrate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OpenRouter API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for AI-powered shopping advice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Simplify business management for local sellers via a CRM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406" y="3065564"/>
            <a:ext cx="44584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406" y="3809705"/>
            <a:ext cx="8720290" cy="44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End-to-end e-commerce development including: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6" y="4433287"/>
            <a:ext cx="7805890" cy="231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JWT user authentication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Product listing &amp; categorization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Brand management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Multi-seller cart optimization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Comprehensive seller dashboard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99406" y="7067398"/>
            <a:ext cx="7805833" cy="1388840"/>
            <a:chOff x="0" y="0"/>
            <a:chExt cx="10407777" cy="18517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07777" cy="1851787"/>
            </a:xfrm>
            <a:custGeom>
              <a:avLst/>
              <a:gdLst/>
              <a:ahLst/>
              <a:cxnLst/>
              <a:rect l="l" t="t" r="r" b="b"/>
              <a:pathLst>
                <a:path w="10407777" h="185178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1693037"/>
                  </a:lnTo>
                  <a:cubicBezTo>
                    <a:pt x="10407777" y="1780667"/>
                    <a:pt x="10336657" y="1851787"/>
                    <a:pt x="10249027" y="1851787"/>
                  </a:cubicBezTo>
                  <a:lnTo>
                    <a:pt x="158750" y="1851787"/>
                  </a:lnTo>
                  <a:cubicBezTo>
                    <a:pt x="71120" y="1851787"/>
                    <a:pt x="0" y="1780667"/>
                    <a:pt x="0" y="1693037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782918" y="7449893"/>
            <a:ext cx="354330" cy="283559"/>
            <a:chOff x="0" y="0"/>
            <a:chExt cx="472440" cy="378079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" r="-16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0420798" y="7317134"/>
            <a:ext cx="6600977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Scope limited to a functional prototype for local testing and school demonstrations.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" r="-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172" r="-7717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850238" y="3006033"/>
            <a:ext cx="642337" cy="642337"/>
            <a:chOff x="0" y="0"/>
            <a:chExt cx="856450" cy="85645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856488" cy="856488"/>
            </a:xfrm>
            <a:custGeom>
              <a:avLst/>
              <a:gdLst/>
              <a:ahLst/>
              <a:cxnLst/>
              <a:rect l="l" t="t" r="r" b="b"/>
              <a:pathLst>
                <a:path w="856488" h="856488">
                  <a:moveTo>
                    <a:pt x="0" y="0"/>
                  </a:moveTo>
                  <a:lnTo>
                    <a:pt x="856488" y="0"/>
                  </a:lnTo>
                  <a:lnTo>
                    <a:pt x="856488" y="856488"/>
                  </a:lnTo>
                  <a:lnTo>
                    <a:pt x="0" y="856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850238" y="5280422"/>
            <a:ext cx="642337" cy="642337"/>
            <a:chOff x="0" y="0"/>
            <a:chExt cx="856450" cy="85645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856488" cy="856488"/>
            </a:xfrm>
            <a:custGeom>
              <a:avLst/>
              <a:gdLst/>
              <a:ahLst/>
              <a:cxnLst/>
              <a:rect l="l" t="t" r="r" b="b"/>
              <a:pathLst>
                <a:path w="856488" h="856488">
                  <a:moveTo>
                    <a:pt x="0" y="0"/>
                  </a:moveTo>
                  <a:lnTo>
                    <a:pt x="856488" y="0"/>
                  </a:lnTo>
                  <a:lnTo>
                    <a:pt x="856488" y="856488"/>
                  </a:lnTo>
                  <a:lnTo>
                    <a:pt x="0" y="856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7850238" y="7554811"/>
            <a:ext cx="642337" cy="642337"/>
            <a:chOff x="0" y="0"/>
            <a:chExt cx="856450" cy="85645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856488" cy="856488"/>
            </a:xfrm>
            <a:custGeom>
              <a:avLst/>
              <a:gdLst/>
              <a:ahLst/>
              <a:cxnLst/>
              <a:rect l="l" t="t" r="r" b="b"/>
              <a:pathLst>
                <a:path w="856488" h="856488">
                  <a:moveTo>
                    <a:pt x="0" y="0"/>
                  </a:moveTo>
                  <a:lnTo>
                    <a:pt x="856488" y="0"/>
                  </a:lnTo>
                  <a:lnTo>
                    <a:pt x="856488" y="856488"/>
                  </a:lnTo>
                  <a:lnTo>
                    <a:pt x="0" y="856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7850238" y="789984"/>
            <a:ext cx="9012441" cy="96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999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OJT Workplace &amp; Context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50238" y="2088356"/>
            <a:ext cx="9445523" cy="65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OJT was conducted at the </a:t>
            </a:r>
            <a:r>
              <a:rPr lang="en-US" sz="20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Computer Engineering Department, Shivapuri Secondary School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, in a professional development studio environment.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50238" y="3863130"/>
            <a:ext cx="3541957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Design-First Workflow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50238" y="4477350"/>
            <a:ext cx="9445523" cy="33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Wireframing in Figma before coding to ensure systematic software design.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50238" y="6137519"/>
            <a:ext cx="321185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Agile Methodology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50238" y="6751739"/>
            <a:ext cx="9445523" cy="33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Project broken into sprints: Cart Implementation, API Endpoints, AI Integration.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50238" y="8411918"/>
            <a:ext cx="321185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Infrastructure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50238" y="9026128"/>
            <a:ext cx="9445523" cy="33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School-provided workstations and internet access for real-time API testing.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616296"/>
            <a:ext cx="8002638" cy="109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99980"/>
            <a:ext cx="17217923" cy="44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KinaHub uses a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decoupled architecture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frontend and backend evolve independently.</a:t>
            </a:r>
          </a:p>
        </p:txBody>
      </p:sp>
      <p:sp>
        <p:nvSpPr>
          <p:cNvPr id="8" name="Freeform 8"/>
          <p:cNvSpPr/>
          <p:nvPr/>
        </p:nvSpPr>
        <p:spPr>
          <a:xfrm>
            <a:off x="967235" y="2938615"/>
            <a:ext cx="8059960" cy="3176016"/>
          </a:xfrm>
          <a:custGeom>
            <a:avLst/>
            <a:gdLst/>
            <a:ahLst/>
            <a:cxnLst/>
            <a:rect l="l" t="t" r="r" b="b"/>
            <a:pathLst>
              <a:path w="8059960" h="3176016">
                <a:moveTo>
                  <a:pt x="0" y="0"/>
                </a:moveTo>
                <a:lnTo>
                  <a:pt x="8059960" y="0"/>
                </a:lnTo>
                <a:lnTo>
                  <a:pt x="8059960" y="3176016"/>
                </a:lnTo>
                <a:lnTo>
                  <a:pt x="0" y="3176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04334" y="3275705"/>
            <a:ext cx="850582" cy="850582"/>
            <a:chOff x="0" y="0"/>
            <a:chExt cx="1134110" cy="113411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38288" y="3509667"/>
            <a:ext cx="382638" cy="382638"/>
            <a:chOff x="0" y="0"/>
            <a:chExt cx="510184" cy="510184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0"/>
                  </a:moveTo>
                  <a:lnTo>
                    <a:pt x="510159" y="0"/>
                  </a:lnTo>
                  <a:lnTo>
                    <a:pt x="510159" y="510159"/>
                  </a:lnTo>
                  <a:lnTo>
                    <a:pt x="0" y="510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304334" y="4333580"/>
            <a:ext cx="35440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4334" y="4964306"/>
            <a:ext cx="7385742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React.js + TypeScript · Vite build tool · Tailwind CSS · Framer Motion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9260681" y="2938615"/>
            <a:ext cx="8060055" cy="3176016"/>
          </a:xfrm>
          <a:custGeom>
            <a:avLst/>
            <a:gdLst/>
            <a:ahLst/>
            <a:cxnLst/>
            <a:rect l="l" t="t" r="r" b="b"/>
            <a:pathLst>
              <a:path w="8060055" h="3176016">
                <a:moveTo>
                  <a:pt x="0" y="0"/>
                </a:moveTo>
                <a:lnTo>
                  <a:pt x="8060055" y="0"/>
                </a:lnTo>
                <a:lnTo>
                  <a:pt x="8060055" y="3176016"/>
                </a:lnTo>
                <a:lnTo>
                  <a:pt x="0" y="3176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9597781" y="3275705"/>
            <a:ext cx="850582" cy="850582"/>
            <a:chOff x="0" y="0"/>
            <a:chExt cx="1134110" cy="113411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831734" y="3509667"/>
            <a:ext cx="382638" cy="382638"/>
            <a:chOff x="0" y="0"/>
            <a:chExt cx="510184" cy="510184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0"/>
                  </a:moveTo>
                  <a:lnTo>
                    <a:pt x="510159" y="0"/>
                  </a:lnTo>
                  <a:lnTo>
                    <a:pt x="510159" y="510159"/>
                  </a:lnTo>
                  <a:lnTo>
                    <a:pt x="0" y="510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597781" y="4333580"/>
            <a:ext cx="35440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97781" y="4964306"/>
            <a:ext cx="7385895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Django · Django REST Framework (DRF) · ORM for database management</a:t>
            </a:r>
          </a:p>
        </p:txBody>
      </p:sp>
      <p:sp>
        <p:nvSpPr>
          <p:cNvPr id="22" name="Freeform 22"/>
          <p:cNvSpPr/>
          <p:nvPr/>
        </p:nvSpPr>
        <p:spPr>
          <a:xfrm>
            <a:off x="967235" y="6348117"/>
            <a:ext cx="8059960" cy="3176016"/>
          </a:xfrm>
          <a:custGeom>
            <a:avLst/>
            <a:gdLst/>
            <a:ahLst/>
            <a:cxnLst/>
            <a:rect l="l" t="t" r="r" b="b"/>
            <a:pathLst>
              <a:path w="8059960" h="3176016">
                <a:moveTo>
                  <a:pt x="0" y="0"/>
                </a:moveTo>
                <a:lnTo>
                  <a:pt x="8059960" y="0"/>
                </a:lnTo>
                <a:lnTo>
                  <a:pt x="8059960" y="3176016"/>
                </a:lnTo>
                <a:lnTo>
                  <a:pt x="0" y="3176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304334" y="6685207"/>
            <a:ext cx="850582" cy="850582"/>
            <a:chOff x="0" y="0"/>
            <a:chExt cx="1134110" cy="113411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538288" y="6919170"/>
            <a:ext cx="382638" cy="382638"/>
            <a:chOff x="0" y="0"/>
            <a:chExt cx="510184" cy="510184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0"/>
                  </a:moveTo>
                  <a:lnTo>
                    <a:pt x="510159" y="0"/>
                  </a:lnTo>
                  <a:lnTo>
                    <a:pt x="510159" y="510159"/>
                  </a:lnTo>
                  <a:lnTo>
                    <a:pt x="0" y="510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04334" y="7743082"/>
            <a:ext cx="35440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AI Layer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4334" y="8373818"/>
            <a:ext cx="7385742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OpenRouter API · Gemma &amp; Nemotron LLMs · Client-side streaming responses</a:t>
            </a:r>
          </a:p>
        </p:txBody>
      </p:sp>
      <p:sp>
        <p:nvSpPr>
          <p:cNvPr id="29" name="Freeform 29"/>
          <p:cNvSpPr/>
          <p:nvPr/>
        </p:nvSpPr>
        <p:spPr>
          <a:xfrm>
            <a:off x="9260681" y="6348117"/>
            <a:ext cx="8060055" cy="3176016"/>
          </a:xfrm>
          <a:custGeom>
            <a:avLst/>
            <a:gdLst/>
            <a:ahLst/>
            <a:cxnLst/>
            <a:rect l="l" t="t" r="r" b="b"/>
            <a:pathLst>
              <a:path w="8060055" h="3176016">
                <a:moveTo>
                  <a:pt x="0" y="0"/>
                </a:moveTo>
                <a:lnTo>
                  <a:pt x="8060055" y="0"/>
                </a:lnTo>
                <a:lnTo>
                  <a:pt x="8060055" y="3176016"/>
                </a:lnTo>
                <a:lnTo>
                  <a:pt x="0" y="3176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9597781" y="6685207"/>
            <a:ext cx="850582" cy="850582"/>
            <a:chOff x="0" y="0"/>
            <a:chExt cx="1134110" cy="1134110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9831734" y="6919170"/>
            <a:ext cx="382638" cy="382638"/>
            <a:chOff x="0" y="0"/>
            <a:chExt cx="510184" cy="510184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0"/>
                  </a:moveTo>
                  <a:lnTo>
                    <a:pt x="510159" y="0"/>
                  </a:lnTo>
                  <a:lnTo>
                    <a:pt x="510159" y="510159"/>
                  </a:lnTo>
                  <a:lnTo>
                    <a:pt x="0" y="510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9597781" y="7743082"/>
            <a:ext cx="35440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Security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97781" y="8373818"/>
            <a:ext cx="7385895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JWT authentication · Slug-based routing · Verified purchase reviews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54673" y="752627"/>
            <a:ext cx="6684759" cy="81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3"/>
              </a:lnSpc>
            </a:pPr>
            <a:r>
              <a:rPr lang="en-US" sz="42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Backend Data Models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54673" y="2008737"/>
            <a:ext cx="7224427" cy="7224427"/>
            <a:chOff x="0" y="0"/>
            <a:chExt cx="9632569" cy="963256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632569" cy="9632569"/>
            </a:xfrm>
            <a:custGeom>
              <a:avLst/>
              <a:gdLst/>
              <a:ahLst/>
              <a:cxnLst/>
              <a:rect l="l" t="t" r="r" b="b"/>
              <a:pathLst>
                <a:path w="9632569" h="9632569">
                  <a:moveTo>
                    <a:pt x="0" y="0"/>
                  </a:moveTo>
                  <a:lnTo>
                    <a:pt x="9632569" y="0"/>
                  </a:lnTo>
                  <a:lnTo>
                    <a:pt x="9632569" y="9632569"/>
                  </a:lnTo>
                  <a:lnTo>
                    <a:pt x="0" y="9632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418139" y="4324645"/>
            <a:ext cx="3627834" cy="40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1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Core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8139" y="4881410"/>
            <a:ext cx="7224417" cy="76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backend is built around four interconnected models that power every feature of the platform — from product discovery to seller management and community trust.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18139" y="5778398"/>
            <a:ext cx="7224417" cy="118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0" lvl="2" indent="-136737" algn="l">
              <a:lnSpc>
                <a:spcPts val="1958"/>
              </a:lnSpc>
              <a:buFont typeface="Arial"/>
              <a:buChar char="⚬"/>
            </a:pPr>
            <a:r>
              <a:rPr lang="en-US" sz="1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Product:</a:t>
            </a: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Handles dynamic pricing with current_price for discounts</a:t>
            </a:r>
          </a:p>
          <a:p>
            <a:pPr marL="410210" lvl="2" indent="-136737" algn="l">
              <a:lnSpc>
                <a:spcPts val="1958"/>
              </a:lnSpc>
              <a:buFont typeface="Arial"/>
              <a:buChar char="⚬"/>
            </a:pPr>
            <a:r>
              <a:rPr lang="en-US" sz="1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Store:</a:t>
            </a: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Manages seller identity and delivery rules</a:t>
            </a:r>
          </a:p>
          <a:p>
            <a:pPr marL="410210" lvl="2" indent="-136737" algn="l">
              <a:lnSpc>
                <a:spcPts val="1958"/>
              </a:lnSpc>
              <a:buFont typeface="Arial"/>
              <a:buChar char="⚬"/>
            </a:pPr>
            <a:r>
              <a:rPr lang="en-US" sz="1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Category/Brand:</a:t>
            </a: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Enables the advanced filtering system</a:t>
            </a:r>
          </a:p>
          <a:p>
            <a:pPr marL="410210" lvl="2" indent="-136737" algn="l">
              <a:lnSpc>
                <a:spcPts val="1958"/>
              </a:lnSpc>
              <a:buFont typeface="Arial"/>
              <a:buChar char="⚬"/>
            </a:pPr>
            <a:r>
              <a:rPr lang="en-US" sz="1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Review:</a:t>
            </a: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Builds social proof via verified purchases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3296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pic>
        <p:nvPicPr>
          <p:cNvPr id="8" name="Online Media 7" title="KinaHub Web App Demo - Seamless AI Shopping Experience">
            <a:hlinkClick r:id="" action="ppaction://noaction"/>
            <a:extLst>
              <a:ext uri="{FF2B5EF4-FFF2-40B4-BE49-F238E27FC236}">
                <a16:creationId xmlns:a16="http://schemas.microsoft.com/office/drawing/2014/main" id="{3BFFD039-35D3-27CD-B425-62CC1C3C54D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82" y="-4304"/>
            <a:ext cx="18309996" cy="1025434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3296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pic>
        <p:nvPicPr>
          <p:cNvPr id="6" name="Picture 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9" r="29"/>
          <a:stretch>
            <a:fillRect/>
          </a:stretch>
        </p:blipFill>
        <p:spPr>
          <a:xfrm>
            <a:off x="1" y="-5144"/>
            <a:ext cx="18277113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6860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28840" y="2690546"/>
            <a:ext cx="8515160" cy="4207002"/>
            <a:chOff x="0" y="0"/>
            <a:chExt cx="11353546" cy="56093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53546" cy="5609336"/>
            </a:xfrm>
            <a:custGeom>
              <a:avLst/>
              <a:gdLst/>
              <a:ahLst/>
              <a:cxnLst/>
              <a:rect l="l" t="t" r="r" b="b"/>
              <a:pathLst>
                <a:path w="11353546" h="5609336">
                  <a:moveTo>
                    <a:pt x="0" y="0"/>
                  </a:moveTo>
                  <a:lnTo>
                    <a:pt x="11353546" y="0"/>
                  </a:lnTo>
                  <a:lnTo>
                    <a:pt x="11353546" y="5609336"/>
                  </a:lnTo>
                  <a:lnTo>
                    <a:pt x="0" y="5609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121" b="-1212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411329" y="2690546"/>
            <a:ext cx="8798824" cy="4257342"/>
            <a:chOff x="0" y="0"/>
            <a:chExt cx="11731765" cy="56764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31752" cy="5676519"/>
            </a:xfrm>
            <a:custGeom>
              <a:avLst/>
              <a:gdLst/>
              <a:ahLst/>
              <a:cxnLst/>
              <a:rect l="l" t="t" r="r" b="b"/>
              <a:pathLst>
                <a:path w="11731752" h="5676519">
                  <a:moveTo>
                    <a:pt x="0" y="0"/>
                  </a:moveTo>
                  <a:lnTo>
                    <a:pt x="11731752" y="0"/>
                  </a:lnTo>
                  <a:lnTo>
                    <a:pt x="11731752" y="5676519"/>
                  </a:lnTo>
                  <a:lnTo>
                    <a:pt x="0" y="567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90" r="-3990"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674189"/>
            <a:ext cx="10595372" cy="104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54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Platform Features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1879844"/>
            <a:ext cx="17217923" cy="38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Each module was designed with user experience as the primary focus.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69758" y="7021373"/>
            <a:ext cx="3433315" cy="5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Landing Page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76557" y="7705830"/>
            <a:ext cx="3826516" cy="74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High-impact design with clear navigation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94093" y="7021373"/>
            <a:ext cx="3433315" cy="5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Filtering &amp; Search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00891" y="7658205"/>
            <a:ext cx="3826516" cy="74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Price, brand, rating filters + instant full-text search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6860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1028700"/>
            <a:ext cx="4459986" cy="5797772"/>
            <a:chOff x="0" y="0"/>
            <a:chExt cx="5946648" cy="77303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46648" cy="7730363"/>
            </a:xfrm>
            <a:custGeom>
              <a:avLst/>
              <a:gdLst/>
              <a:ahLst/>
              <a:cxnLst/>
              <a:rect l="l" t="t" r="r" b="b"/>
              <a:pathLst>
                <a:path w="5946648" h="7730363">
                  <a:moveTo>
                    <a:pt x="0" y="0"/>
                  </a:moveTo>
                  <a:lnTo>
                    <a:pt x="5946648" y="0"/>
                  </a:lnTo>
                  <a:lnTo>
                    <a:pt x="5946648" y="7730363"/>
                  </a:lnTo>
                  <a:lnTo>
                    <a:pt x="0" y="7730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64" b="-66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757514" y="1028700"/>
            <a:ext cx="8501786" cy="5797772"/>
            <a:chOff x="0" y="0"/>
            <a:chExt cx="11335715" cy="77303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35766" cy="7730363"/>
            </a:xfrm>
            <a:custGeom>
              <a:avLst/>
              <a:gdLst/>
              <a:ahLst/>
              <a:cxnLst/>
              <a:rect l="l" t="t" r="r" b="b"/>
              <a:pathLst>
                <a:path w="11335766" h="7730363">
                  <a:moveTo>
                    <a:pt x="0" y="0"/>
                  </a:moveTo>
                  <a:lnTo>
                    <a:pt x="11335766" y="0"/>
                  </a:lnTo>
                  <a:lnTo>
                    <a:pt x="11335766" y="7730363"/>
                  </a:lnTo>
                  <a:lnTo>
                    <a:pt x="0" y="7730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188" b="-318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055371" y="6935714"/>
            <a:ext cx="3433315" cy="5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Kina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5435" y="7605589"/>
            <a:ext cx="3826516" cy="74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LLM-powered shopping assistant with localized advice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2363" y="6935714"/>
            <a:ext cx="3433315" cy="5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Seller CRM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99152" y="7601121"/>
            <a:ext cx="3826516" cy="74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Comprehensive dashboard for local sellers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05072" y="1028700"/>
            <a:ext cx="8720376" cy="4835176"/>
            <a:chOff x="0" y="0"/>
            <a:chExt cx="11627168" cy="64469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627104" cy="6446901"/>
            </a:xfrm>
            <a:custGeom>
              <a:avLst/>
              <a:gdLst/>
              <a:ahLst/>
              <a:cxnLst/>
              <a:rect l="l" t="t" r="r" b="b"/>
              <a:pathLst>
                <a:path w="11627104" h="6446901">
                  <a:moveTo>
                    <a:pt x="0" y="0"/>
                  </a:moveTo>
                  <a:lnTo>
                    <a:pt x="11627104" y="0"/>
                  </a:lnTo>
                  <a:lnTo>
                    <a:pt x="11627104" y="6446901"/>
                  </a:lnTo>
                  <a:lnTo>
                    <a:pt x="0" y="6446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5920" b="-1592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256596" y="1028700"/>
            <a:ext cx="7695952" cy="4835176"/>
            <a:chOff x="0" y="0"/>
            <a:chExt cx="10261270" cy="64469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61219" cy="6446901"/>
            </a:xfrm>
            <a:custGeom>
              <a:avLst/>
              <a:gdLst/>
              <a:ahLst/>
              <a:cxnLst/>
              <a:rect l="l" t="t" r="r" b="b"/>
              <a:pathLst>
                <a:path w="10261219" h="6446901">
                  <a:moveTo>
                    <a:pt x="0" y="0"/>
                  </a:moveTo>
                  <a:lnTo>
                    <a:pt x="10261219" y="0"/>
                  </a:lnTo>
                  <a:lnTo>
                    <a:pt x="10261219" y="6446901"/>
                  </a:lnTo>
                  <a:lnTo>
                    <a:pt x="0" y="6446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468" b="-2446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700186" y="6093009"/>
            <a:ext cx="3433315" cy="5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Multi-Store Cart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3581" y="6687093"/>
            <a:ext cx="3826516" cy="74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Logic-heavy cart optimized for multi-seller orders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06302" y="6093009"/>
            <a:ext cx="3433315" cy="5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Secure Checkout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09706" y="6687093"/>
            <a:ext cx="3826516" cy="74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Multi-step process for high security and low friction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" r="-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-8039"/>
            <a:ext cx="7200900" cy="10287000"/>
            <a:chOff x="0" y="0"/>
            <a:chExt cx="96012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-8039"/>
            <a:ext cx="7200900" cy="10287000"/>
            <a:chOff x="0" y="0"/>
            <a:chExt cx="96012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428" r="-21428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7825235" y="2818952"/>
            <a:ext cx="638080" cy="638080"/>
          </a:xfrm>
          <a:custGeom>
            <a:avLst/>
            <a:gdLst/>
            <a:ahLst/>
            <a:cxnLst/>
            <a:rect l="l" t="t" r="r" b="b"/>
            <a:pathLst>
              <a:path w="638080" h="638080">
                <a:moveTo>
                  <a:pt x="0" y="0"/>
                </a:moveTo>
                <a:lnTo>
                  <a:pt x="638080" y="0"/>
                </a:lnTo>
                <a:lnTo>
                  <a:pt x="638080" y="638080"/>
                </a:lnTo>
                <a:lnTo>
                  <a:pt x="0" y="638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948165" y="2883094"/>
            <a:ext cx="392011" cy="509588"/>
            <a:chOff x="0" y="0"/>
            <a:chExt cx="522681" cy="6794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2732" cy="679450"/>
            </a:xfrm>
            <a:custGeom>
              <a:avLst/>
              <a:gdLst/>
              <a:ahLst/>
              <a:cxnLst/>
              <a:rect l="l" t="t" r="r" b="b"/>
              <a:pathLst>
                <a:path w="522732" h="679450">
                  <a:moveTo>
                    <a:pt x="0" y="0"/>
                  </a:moveTo>
                  <a:lnTo>
                    <a:pt x="522732" y="0"/>
                  </a:lnTo>
                  <a:lnTo>
                    <a:pt x="522732" y="679450"/>
                  </a:lnTo>
                  <a:lnTo>
                    <a:pt x="0" y="679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6890" r="-11688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7948165" y="2868806"/>
            <a:ext cx="392011" cy="523875"/>
            <a:chOff x="0" y="0"/>
            <a:chExt cx="522681" cy="698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2681" cy="698501"/>
            </a:xfrm>
            <a:custGeom>
              <a:avLst/>
              <a:gdLst/>
              <a:ahLst/>
              <a:cxnLst/>
              <a:rect l="l" t="t" r="r" b="b"/>
              <a:pathLst>
                <a:path w="522681" h="698501">
                  <a:moveTo>
                    <a:pt x="0" y="0"/>
                  </a:moveTo>
                  <a:lnTo>
                    <a:pt x="522681" y="0"/>
                  </a:lnTo>
                  <a:lnTo>
                    <a:pt x="522681" y="698501"/>
                  </a:lnTo>
                  <a:lnTo>
                    <a:pt x="0" y="6985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1462" r="-12146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22681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7825235" y="4604290"/>
            <a:ext cx="638080" cy="638080"/>
          </a:xfrm>
          <a:custGeom>
            <a:avLst/>
            <a:gdLst/>
            <a:ahLst/>
            <a:cxnLst/>
            <a:rect l="l" t="t" r="r" b="b"/>
            <a:pathLst>
              <a:path w="638080" h="638080">
                <a:moveTo>
                  <a:pt x="0" y="0"/>
                </a:moveTo>
                <a:lnTo>
                  <a:pt x="638080" y="0"/>
                </a:lnTo>
                <a:lnTo>
                  <a:pt x="638080" y="638080"/>
                </a:lnTo>
                <a:lnTo>
                  <a:pt x="0" y="638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7948165" y="4668441"/>
            <a:ext cx="392011" cy="509588"/>
            <a:chOff x="0" y="0"/>
            <a:chExt cx="522681" cy="6794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2732" cy="679450"/>
            </a:xfrm>
            <a:custGeom>
              <a:avLst/>
              <a:gdLst/>
              <a:ahLst/>
              <a:cxnLst/>
              <a:rect l="l" t="t" r="r" b="b"/>
              <a:pathLst>
                <a:path w="522732" h="679450">
                  <a:moveTo>
                    <a:pt x="0" y="0"/>
                  </a:moveTo>
                  <a:lnTo>
                    <a:pt x="522732" y="0"/>
                  </a:lnTo>
                  <a:lnTo>
                    <a:pt x="522732" y="679450"/>
                  </a:lnTo>
                  <a:lnTo>
                    <a:pt x="0" y="679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6890" r="-116882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7948165" y="4654153"/>
            <a:ext cx="392011" cy="523875"/>
            <a:chOff x="0" y="0"/>
            <a:chExt cx="522681" cy="698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2681" cy="698501"/>
            </a:xfrm>
            <a:custGeom>
              <a:avLst/>
              <a:gdLst/>
              <a:ahLst/>
              <a:cxnLst/>
              <a:rect l="l" t="t" r="r" b="b"/>
              <a:pathLst>
                <a:path w="522681" h="698501">
                  <a:moveTo>
                    <a:pt x="0" y="0"/>
                  </a:moveTo>
                  <a:lnTo>
                    <a:pt x="522681" y="0"/>
                  </a:lnTo>
                  <a:lnTo>
                    <a:pt x="522681" y="698501"/>
                  </a:lnTo>
                  <a:lnTo>
                    <a:pt x="0" y="6985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1462" r="-12146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22681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7825235" y="6389637"/>
            <a:ext cx="638080" cy="638080"/>
          </a:xfrm>
          <a:custGeom>
            <a:avLst/>
            <a:gdLst/>
            <a:ahLst/>
            <a:cxnLst/>
            <a:rect l="l" t="t" r="r" b="b"/>
            <a:pathLst>
              <a:path w="638080" h="638080">
                <a:moveTo>
                  <a:pt x="0" y="0"/>
                </a:moveTo>
                <a:lnTo>
                  <a:pt x="638080" y="0"/>
                </a:lnTo>
                <a:lnTo>
                  <a:pt x="638080" y="638079"/>
                </a:lnTo>
                <a:lnTo>
                  <a:pt x="0" y="638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7948165" y="6453778"/>
            <a:ext cx="392011" cy="509588"/>
            <a:chOff x="0" y="0"/>
            <a:chExt cx="522681" cy="6794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2732" cy="679450"/>
            </a:xfrm>
            <a:custGeom>
              <a:avLst/>
              <a:gdLst/>
              <a:ahLst/>
              <a:cxnLst/>
              <a:rect l="l" t="t" r="r" b="b"/>
              <a:pathLst>
                <a:path w="522732" h="679450">
                  <a:moveTo>
                    <a:pt x="0" y="0"/>
                  </a:moveTo>
                  <a:lnTo>
                    <a:pt x="522732" y="0"/>
                  </a:lnTo>
                  <a:lnTo>
                    <a:pt x="522732" y="679450"/>
                  </a:lnTo>
                  <a:lnTo>
                    <a:pt x="0" y="679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6890" r="-116882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7948165" y="6439491"/>
            <a:ext cx="392011" cy="523875"/>
            <a:chOff x="0" y="0"/>
            <a:chExt cx="522681" cy="698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2681" cy="698501"/>
            </a:xfrm>
            <a:custGeom>
              <a:avLst/>
              <a:gdLst/>
              <a:ahLst/>
              <a:cxnLst/>
              <a:rect l="l" t="t" r="r" b="b"/>
              <a:pathLst>
                <a:path w="522681" h="698501">
                  <a:moveTo>
                    <a:pt x="0" y="0"/>
                  </a:moveTo>
                  <a:lnTo>
                    <a:pt x="522681" y="0"/>
                  </a:lnTo>
                  <a:lnTo>
                    <a:pt x="522681" y="698501"/>
                  </a:lnTo>
                  <a:lnTo>
                    <a:pt x="0" y="6985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1462" r="-121462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22681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7825235" y="8174984"/>
            <a:ext cx="638080" cy="638080"/>
          </a:xfrm>
          <a:custGeom>
            <a:avLst/>
            <a:gdLst/>
            <a:ahLst/>
            <a:cxnLst/>
            <a:rect l="l" t="t" r="r" b="b"/>
            <a:pathLst>
              <a:path w="638080" h="638080">
                <a:moveTo>
                  <a:pt x="0" y="0"/>
                </a:moveTo>
                <a:lnTo>
                  <a:pt x="638080" y="0"/>
                </a:lnTo>
                <a:lnTo>
                  <a:pt x="638080" y="638079"/>
                </a:lnTo>
                <a:lnTo>
                  <a:pt x="0" y="638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7948165" y="8239125"/>
            <a:ext cx="392011" cy="509588"/>
            <a:chOff x="0" y="0"/>
            <a:chExt cx="522681" cy="6794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22732" cy="679450"/>
            </a:xfrm>
            <a:custGeom>
              <a:avLst/>
              <a:gdLst/>
              <a:ahLst/>
              <a:cxnLst/>
              <a:rect l="l" t="t" r="r" b="b"/>
              <a:pathLst>
                <a:path w="522732" h="679450">
                  <a:moveTo>
                    <a:pt x="0" y="0"/>
                  </a:moveTo>
                  <a:lnTo>
                    <a:pt x="522732" y="0"/>
                  </a:lnTo>
                  <a:lnTo>
                    <a:pt x="522732" y="679450"/>
                  </a:lnTo>
                  <a:lnTo>
                    <a:pt x="0" y="679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6890" r="-116882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7948165" y="8224838"/>
            <a:ext cx="392011" cy="523875"/>
            <a:chOff x="0" y="0"/>
            <a:chExt cx="522681" cy="6985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22681" cy="698501"/>
            </a:xfrm>
            <a:custGeom>
              <a:avLst/>
              <a:gdLst/>
              <a:ahLst/>
              <a:cxnLst/>
              <a:rect l="l" t="t" r="r" b="b"/>
              <a:pathLst>
                <a:path w="522681" h="698501">
                  <a:moveTo>
                    <a:pt x="0" y="0"/>
                  </a:moveTo>
                  <a:lnTo>
                    <a:pt x="522681" y="0"/>
                  </a:lnTo>
                  <a:lnTo>
                    <a:pt x="522681" y="698501"/>
                  </a:lnTo>
                  <a:lnTo>
                    <a:pt x="0" y="6985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1462" r="-12146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522681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850238" y="631184"/>
            <a:ext cx="9445523" cy="176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1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OJT Learnings &amp; Skills Acquired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79209" y="2849318"/>
            <a:ext cx="3516506" cy="50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Full-Stack Integration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679209" y="3475587"/>
            <a:ext cx="8616553" cy="6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Connecting Django REST backend with a Vite-powered React frontend using TypeScript for type safety.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79209" y="4634655"/>
            <a:ext cx="3693166" cy="50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Advanced CSS &amp; UI/UX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679209" y="5260924"/>
            <a:ext cx="8616553" cy="6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Using Tailwind CSS for responsive, theme-aware interfaces with Framer Motion animations.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79209" y="6420002"/>
            <a:ext cx="3267227" cy="50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AI Orchestration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79209" y="7046271"/>
            <a:ext cx="8616553" cy="6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Designing prompts and handling streaming LLM responses from the OpenRouter API.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679209" y="8205340"/>
            <a:ext cx="3267227" cy="50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Version Control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679209" y="8831609"/>
            <a:ext cx="8616553" cy="6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Maintaining clean Git history and managing feature branches throughout development.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701556"/>
            <a:ext cx="11331921" cy="109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Future Roadmap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426914"/>
            <a:ext cx="445844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171055"/>
            <a:ext cx="7805890" cy="191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KinaHub successfully achieved its goals as a functional, local-first e-commerce platform. For a Grade 10 student, this OJT was a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transformative experience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bridging school-level ICT and professional software engineering. It stands as proof that localized technology can empower communities.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95209" y="3219602"/>
            <a:ext cx="8214265" cy="3167444"/>
            <a:chOff x="0" y="0"/>
            <a:chExt cx="10952353" cy="42232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52353" cy="4223258"/>
            </a:xfrm>
            <a:custGeom>
              <a:avLst/>
              <a:gdLst/>
              <a:ahLst/>
              <a:cxnLst/>
              <a:rect l="l" t="t" r="r" b="b"/>
              <a:pathLst>
                <a:path w="10952353" h="4223258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951097"/>
                  </a:lnTo>
                  <a:cubicBezTo>
                    <a:pt x="10952353" y="4101465"/>
                    <a:pt x="10830433" y="4223258"/>
                    <a:pt x="10680192" y="4223258"/>
                  </a:cubicBezTo>
                  <a:lnTo>
                    <a:pt x="272161" y="4223258"/>
                  </a:lnTo>
                  <a:cubicBezTo>
                    <a:pt x="121920" y="4223385"/>
                    <a:pt x="0" y="4101465"/>
                    <a:pt x="0" y="3951097"/>
                  </a:cubicBezTo>
                  <a:close/>
                </a:path>
              </a:pathLst>
            </a:custGeom>
            <a:solidFill>
              <a:srgbClr val="6296FF">
                <a:alpha val="81176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578731" y="3426914"/>
            <a:ext cx="5349183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Future Recommendations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78731" y="4171055"/>
            <a:ext cx="7647232" cy="211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Real-time Notifications:</a:t>
            </a: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WebSockets to alert sellers of new orders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PWA Features:</a:t>
            </a: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Offline shopping and push notifications</a:t>
            </a:r>
          </a:p>
          <a:p>
            <a:pPr marL="530860" lvl="2" indent="-176953" algn="l">
              <a:lnSpc>
                <a:spcPts val="2850"/>
              </a:lnSpc>
              <a:buFont typeface="Arial"/>
              <a:buChar char="⚬"/>
            </a:pPr>
            <a:r>
              <a:rPr lang="en-US" sz="2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Enhanced AI:</a:t>
            </a: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Specialized model trained on local product data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8" y="6706048"/>
            <a:ext cx="16303466" cy="1388840"/>
            <a:chOff x="0" y="0"/>
            <a:chExt cx="21737955" cy="18517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37955" cy="1851787"/>
            </a:xfrm>
            <a:custGeom>
              <a:avLst/>
              <a:gdLst/>
              <a:ahLst/>
              <a:cxnLst/>
              <a:rect l="l" t="t" r="r" b="b"/>
              <a:pathLst>
                <a:path w="21737955" h="185178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693037"/>
                  </a:lnTo>
                  <a:cubicBezTo>
                    <a:pt x="21737955" y="1780667"/>
                    <a:pt x="21666836" y="1851787"/>
                    <a:pt x="21579205" y="1851787"/>
                  </a:cubicBezTo>
                  <a:lnTo>
                    <a:pt x="158750" y="1851787"/>
                  </a:lnTo>
                  <a:cubicBezTo>
                    <a:pt x="71120" y="1851787"/>
                    <a:pt x="0" y="1780667"/>
                    <a:pt x="0" y="1693037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75750" y="7069484"/>
            <a:ext cx="354330" cy="283559"/>
            <a:chOff x="0" y="0"/>
            <a:chExt cx="472440" cy="378079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" r="-16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913630" y="6955784"/>
            <a:ext cx="15098611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report is approved for partial fulfillment of Grade 10 Computer Engineering — Shivapuri Secondary School · Certified by Er. Sagun Babu Adhikari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</cp:revision>
  <dcterms:created xsi:type="dcterms:W3CDTF">2006-08-16T00:00:00Z</dcterms:created>
  <dcterms:modified xsi:type="dcterms:W3CDTF">2026-07-06T12:03:17Z</dcterms:modified>
  <dc:identifier>DAHOmxTW9t0</dc:identifier>
</cp:coreProperties>
</file>